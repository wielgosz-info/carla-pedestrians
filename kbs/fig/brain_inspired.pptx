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8" r:id="rId3"/>
    <p:sldId id="267" r:id="rId5"/>
    <p:sldId id="269" r:id="rId6"/>
    <p:sldId id="270" r:id="rId7"/>
    <p:sldId id="272" r:id="rId8"/>
    <p:sldId id="271" r:id="rId9"/>
    <p:sldId id="277" r:id="rId10"/>
    <p:sldId id="276" r:id="rId11"/>
    <p:sldId id="273" r:id="rId12"/>
    <p:sldId id="268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2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EBE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3322" autoAdjust="0"/>
  </p:normalViewPr>
  <p:slideViewPr>
    <p:cSldViewPr snapToGrid="0" showGuides="1">
      <p:cViewPr varScale="1">
        <p:scale>
          <a:sx n="155" d="100"/>
          <a:sy n="155" d="100"/>
        </p:scale>
        <p:origin x="616" y="92"/>
      </p:cViewPr>
      <p:guideLst>
        <p:guide orient="horz" pos="1942"/>
        <p:guide pos="38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9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net.pdf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brain_inspired.pdf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net.pdf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dataset_examples.pdf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attention_ped_greed.pdf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driving_scores.pdf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structure_analysis.pdf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structure_analysis.pdf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67.xml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8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3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5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6.xml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3.png"/><Relationship Id="rId7" Type="http://schemas.openxmlformats.org/officeDocument/2006/relationships/image" Target="../media/image28.png"/><Relationship Id="rId6" Type="http://schemas.openxmlformats.org/officeDocument/2006/relationships/image" Target="../media/image2.pn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10.png"/><Relationship Id="rId2" Type="http://schemas.openxmlformats.org/officeDocument/2006/relationships/image" Target="../media/image25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79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圆角矩形 81"/>
          <p:cNvSpPr/>
          <p:nvPr/>
        </p:nvSpPr>
        <p:spPr>
          <a:xfrm>
            <a:off x="757555" y="3311525"/>
            <a:ext cx="9747250" cy="2172970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圆角矩形 80"/>
          <p:cNvSpPr/>
          <p:nvPr/>
        </p:nvSpPr>
        <p:spPr>
          <a:xfrm>
            <a:off x="1027430" y="1224280"/>
            <a:ext cx="8812530" cy="1978660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肘形连接符 29"/>
          <p:cNvCxnSpPr>
            <a:stCxn id="130" idx="3"/>
            <a:endCxn id="59" idx="1"/>
          </p:cNvCxnSpPr>
          <p:nvPr/>
        </p:nvCxnSpPr>
        <p:spPr>
          <a:xfrm>
            <a:off x="2424430" y="3831590"/>
            <a:ext cx="471805" cy="568960"/>
          </a:xfrm>
          <a:prstGeom prst="bentConnector3">
            <a:avLst>
              <a:gd name="adj1" fmla="val 500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3521710" y="3708969"/>
            <a:ext cx="1484865" cy="614515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圆角矩形 139"/>
          <p:cNvSpPr/>
          <p:nvPr/>
        </p:nvSpPr>
        <p:spPr>
          <a:xfrm>
            <a:off x="3461386" y="4471201"/>
            <a:ext cx="1604486" cy="663260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3109277" y="3312347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Perception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2762140" y="3646171"/>
            <a:ext cx="2416328" cy="1562734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741310" y="4887118"/>
            <a:ext cx="1082731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Ventral Pathway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908740" y="3237928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Decision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750766" y="4080623"/>
            <a:ext cx="1131596" cy="2355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Dorsal Pathway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207202" y="3520526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6373495" y="4294505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5510530" y="3487420"/>
            <a:ext cx="2712085" cy="1748155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569075" y="3606165"/>
            <a:ext cx="669925" cy="33464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631815" y="4085590"/>
            <a:ext cx="741680" cy="3962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565900" y="4110990"/>
            <a:ext cx="704850" cy="3454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565900" y="4641215"/>
            <a:ext cx="665480" cy="3422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471410" y="4126230"/>
            <a:ext cx="682625" cy="3295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735320" y="4137025"/>
            <a:ext cx="639445" cy="396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OFC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80835" y="364617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71945" y="414528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58610" y="466979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51420" y="414972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CPC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6919595" y="3931285"/>
            <a:ext cx="1905" cy="19494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6917055" y="4456430"/>
            <a:ext cx="2540" cy="17970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275830" y="4293870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3570206" y="4552950"/>
            <a:ext cx="391160" cy="332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4087096" y="4552950"/>
            <a:ext cx="391160" cy="334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4595096" y="4545330"/>
            <a:ext cx="391160" cy="3397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573381" y="4584700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V2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630262" y="4574112"/>
            <a:ext cx="53467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IT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715110" y="3773441"/>
            <a:ext cx="39116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3721277" y="3792147"/>
            <a:ext cx="70231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376780" y="3770266"/>
            <a:ext cx="47371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4376780" y="3766747"/>
            <a:ext cx="72072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MST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962636" y="471932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4478256" y="471805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117700" y="3926476"/>
            <a:ext cx="259080" cy="31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890121" y="4200732"/>
            <a:ext cx="391160" cy="332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4076936" y="4581525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V4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896125" y="4237620"/>
            <a:ext cx="374650" cy="3263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422490" y="3931237"/>
            <a:ext cx="6902" cy="83030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右箭头 21"/>
          <p:cNvSpPr/>
          <p:nvPr>
            <p:custDataLst>
              <p:tags r:id="rId1"/>
            </p:custDataLst>
          </p:nvPr>
        </p:nvSpPr>
        <p:spPr>
          <a:xfrm>
            <a:off x="9535795" y="3978275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>
            <p:custDataLst>
              <p:tags r:id="rId2"/>
            </p:custDataLst>
          </p:nvPr>
        </p:nvSpPr>
        <p:spPr>
          <a:xfrm>
            <a:off x="9531985" y="4539615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>
            <p:custDataLst>
              <p:tags r:id="rId3"/>
            </p:custDataLst>
          </p:nvPr>
        </p:nvSpPr>
        <p:spPr>
          <a:xfrm>
            <a:off x="8560435" y="3831590"/>
            <a:ext cx="975360" cy="3708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steering angle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>
            <p:custDataLst>
              <p:tags r:id="rId4"/>
            </p:custDataLst>
          </p:nvPr>
        </p:nvSpPr>
        <p:spPr>
          <a:xfrm>
            <a:off x="8566150" y="4366895"/>
            <a:ext cx="975360" cy="3708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acceleration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481478" y="4816802"/>
            <a:ext cx="1126173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Positional Embedding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594844" y="3409380"/>
            <a:ext cx="854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Speed Embedding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461635" y="4384645"/>
            <a:ext cx="1153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Navigation Embedding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9" name="肘形连接符 38"/>
          <p:cNvCxnSpPr>
            <a:endCxn id="10" idx="2"/>
          </p:cNvCxnSpPr>
          <p:nvPr/>
        </p:nvCxnSpPr>
        <p:spPr>
          <a:xfrm>
            <a:off x="4986256" y="4717415"/>
            <a:ext cx="1579644" cy="94933"/>
          </a:xfrm>
          <a:prstGeom prst="bentConnector3">
            <a:avLst>
              <a:gd name="adj1" fmla="val 23469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endCxn id="6" idx="2"/>
          </p:cNvCxnSpPr>
          <p:nvPr/>
        </p:nvCxnSpPr>
        <p:spPr>
          <a:xfrm flipV="1">
            <a:off x="4846320" y="3773488"/>
            <a:ext cx="1722755" cy="165239"/>
          </a:xfrm>
          <a:prstGeom prst="bentConnector3">
            <a:avLst>
              <a:gd name="adj1" fmla="val 29481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279506" y="4366784"/>
            <a:ext cx="14643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endCxn id="105" idx="1"/>
          </p:cNvCxnSpPr>
          <p:nvPr/>
        </p:nvCxnSpPr>
        <p:spPr>
          <a:xfrm>
            <a:off x="3416866" y="3936318"/>
            <a:ext cx="298244" cy="317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endCxn id="96" idx="1"/>
          </p:cNvCxnSpPr>
          <p:nvPr/>
        </p:nvCxnSpPr>
        <p:spPr>
          <a:xfrm>
            <a:off x="3429392" y="4756785"/>
            <a:ext cx="143989" cy="31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8154035" y="4293441"/>
            <a:ext cx="23241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8379460" y="3993515"/>
            <a:ext cx="8890" cy="55943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8379460" y="3992880"/>
            <a:ext cx="173355" cy="63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endCxn id="24" idx="1"/>
          </p:cNvCxnSpPr>
          <p:nvPr/>
        </p:nvCxnSpPr>
        <p:spPr>
          <a:xfrm>
            <a:off x="8385175" y="4549775"/>
            <a:ext cx="180975" cy="254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图片 1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055" y="3409315"/>
            <a:ext cx="841375" cy="844550"/>
          </a:xfrm>
          <a:prstGeom prst="rect">
            <a:avLst/>
          </a:prstGeom>
        </p:spPr>
      </p:pic>
      <p:pic>
        <p:nvPicPr>
          <p:cNvPr id="141" name="图片 140" descr="a1e43c4ced9b4d5ae9f5d936849b38e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9742170" y="3780006"/>
            <a:ext cx="494030" cy="494030"/>
          </a:xfrm>
          <a:prstGeom prst="rect">
            <a:avLst/>
          </a:prstGeom>
        </p:spPr>
      </p:pic>
      <p:pic>
        <p:nvPicPr>
          <p:cNvPr id="142" name="图片 141" descr="9966bd960df2ac42ce4b52b9505ae54"/>
          <p:cNvPicPr>
            <a:picLocks noChangeAspect="1"/>
          </p:cNvPicPr>
          <p:nvPr/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9747885" y="4272756"/>
            <a:ext cx="568325" cy="4400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41013" y="3782206"/>
            <a:ext cx="75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Action Prediction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81642" y="4808934"/>
            <a:ext cx="360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V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71895" y="4007931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34985" y="4272519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450" y="4481830"/>
            <a:ext cx="855980" cy="859155"/>
          </a:xfrm>
          <a:prstGeom prst="rect">
            <a:avLst/>
          </a:prstGeom>
        </p:spPr>
      </p:pic>
      <p:cxnSp>
        <p:nvCxnSpPr>
          <p:cNvPr id="28" name="肘形连接符 27"/>
          <p:cNvCxnSpPr>
            <a:stCxn id="13" idx="3"/>
            <a:endCxn id="59" idx="1"/>
          </p:cNvCxnSpPr>
          <p:nvPr/>
        </p:nvCxnSpPr>
        <p:spPr>
          <a:xfrm flipV="1">
            <a:off x="2424430" y="4400550"/>
            <a:ext cx="471805" cy="511175"/>
          </a:xfrm>
          <a:prstGeom prst="bentConnector3">
            <a:avLst>
              <a:gd name="adj1" fmla="val 5006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2350304" y="3440602"/>
            <a:ext cx="509736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i="1" smtClean="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1000" i="1" baseline="-25000" smtClean="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zh-CN" sz="1000" baseline="-25000" smtClean="0">
                <a:latin typeface="Times New Roman" panose="02020603050405020304" charset="0"/>
                <a:cs typeface="Times New Roman" panose="02020603050405020304" charset="0"/>
              </a:rPr>
              <a:t>-1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50194" y="5094932"/>
            <a:ext cx="509736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i="1" smtClean="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1000" i="1" baseline="-25000" smtClean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9462071" y="3790569"/>
                <a:ext cx="348615" cy="229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Pre>
                        <m:sPrePr>
                          <m:ctrlP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PrePr>
                        <m:sub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sup>
                        <m:e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sPre>
                    </m:oMath>
                  </m:oMathPara>
                </a14:m>
                <a:endParaRPr lang="zh-CN" altLang="en-US" sz="90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071" y="3790569"/>
                <a:ext cx="348615" cy="229870"/>
              </a:xfrm>
              <a:prstGeom prst="rect">
                <a:avLst/>
              </a:prstGeom>
              <a:blipFill rotWithShape="1">
                <a:blip r:embed="rId8"/>
                <a:stretch>
                  <a:fillRect l="-164" t="-110" r="164" b="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9486201" y="4330319"/>
                <a:ext cx="354330" cy="229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Pre>
                        <m:sPrePr>
                          <m:ctrlP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PrePr>
                        <m:sub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sup>
                        <m:e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sPre>
                    </m:oMath>
                  </m:oMathPara>
                </a14:m>
                <a:endParaRPr lang="zh-CN" altLang="en-US" sz="900"/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201" y="4330319"/>
                <a:ext cx="354330" cy="229870"/>
              </a:xfrm>
              <a:prstGeom prst="rect">
                <a:avLst/>
              </a:prstGeom>
              <a:blipFill rotWithShape="1">
                <a:blip r:embed="rId9"/>
                <a:stretch>
                  <a:fillRect l="-161" t="-110" r="161" b="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3177107" y="4147271"/>
            <a:ext cx="360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α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图片 26" descr="大脑原型"/>
          <p:cNvPicPr>
            <a:picLocks noChangeAspect="1"/>
          </p:cNvPicPr>
          <p:nvPr/>
        </p:nvPicPr>
        <p:blipFill rotWithShape="1">
          <a:blip r:embed="rId10"/>
          <a:srcRect r="10869"/>
          <a:stretch>
            <a:fillRect/>
          </a:stretch>
        </p:blipFill>
        <p:spPr>
          <a:xfrm>
            <a:off x="4475515" y="1556873"/>
            <a:ext cx="1896048" cy="12382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sp>
        <p:nvSpPr>
          <p:cNvPr id="31" name="文本框 30"/>
          <p:cNvSpPr txBox="1"/>
          <p:nvPr/>
        </p:nvSpPr>
        <p:spPr>
          <a:xfrm>
            <a:off x="3305810" y="1670050"/>
            <a:ext cx="1039495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7620" algn="ctr">
              <a:spcBef>
                <a:spcPts val="70"/>
              </a:spcBef>
              <a:buClrTx/>
              <a:buSzTx/>
              <a:buFontTx/>
            </a:pPr>
            <a:r>
              <a:rPr lang="en-US" sz="12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Environment </a:t>
            </a:r>
            <a:endParaRPr lang="en-US" sz="12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20" algn="ctr">
              <a:spcBef>
                <a:spcPts val="70"/>
              </a:spcBef>
              <a:buClrTx/>
              <a:buSzTx/>
              <a:buFontTx/>
            </a:pPr>
            <a:r>
              <a:rPr lang="en-US" sz="12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Input</a:t>
            </a:r>
            <a:endParaRPr sz="12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zh-CN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345340" y="1500993"/>
            <a:ext cx="2173419" cy="1322705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4177665" y="2948940"/>
            <a:ext cx="2791460" cy="337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sz="1400" b="1" spc="6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Neural </a:t>
            </a:r>
            <a:r>
              <a:rPr lang="en-US" altLang="zh-CN" sz="1400" b="1" spc="6">
                <a:latin typeface="Times New Roman" panose="02020603050405020304" charset="0"/>
                <a:cs typeface="Times New Roman" panose="02020603050405020304" charset="0"/>
              </a:rPr>
              <a:t>Anatomical </a:t>
            </a:r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400" b="1" spc="6">
                <a:latin typeface="Times New Roman" panose="02020603050405020304" charset="0"/>
                <a:cs typeface="Times New Roman" panose="02020603050405020304" charset="0"/>
              </a:rPr>
              <a:t>lignment</a:t>
            </a:r>
            <a:endParaRPr sz="1400" b="1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图片 32" descr="a1e43c4ced9b4d5ae9f5d936849b38e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8562316" y="1608311"/>
            <a:ext cx="494030" cy="494030"/>
          </a:xfrm>
          <a:prstGeom prst="rect">
            <a:avLst/>
          </a:prstGeom>
        </p:spPr>
      </p:pic>
      <p:pic>
        <p:nvPicPr>
          <p:cNvPr id="34" name="图片 33" descr="9966bd960df2ac42ce4b52b9505ae54"/>
          <p:cNvPicPr>
            <a:picLocks noChangeAspect="1"/>
          </p:cNvPicPr>
          <p:nvPr/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8565999" y="2415078"/>
            <a:ext cx="568325" cy="440055"/>
          </a:xfrm>
          <a:prstGeom prst="rect">
            <a:avLst/>
          </a:prstGeom>
        </p:spPr>
      </p:pic>
      <p:sp>
        <p:nvSpPr>
          <p:cNvPr id="40" name="圆角矩形 39"/>
          <p:cNvSpPr/>
          <p:nvPr/>
        </p:nvSpPr>
        <p:spPr>
          <a:xfrm>
            <a:off x="2080895" y="1246505"/>
            <a:ext cx="1327150" cy="184023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11">
            <a:alphaModFix amt="22000"/>
          </a:blip>
          <a:stretch>
            <a:fillRect/>
          </a:stretch>
        </p:blipFill>
        <p:spPr>
          <a:xfrm>
            <a:off x="3043875" y="2406034"/>
            <a:ext cx="121285" cy="14160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12">
            <a:alphaModFix amt="22000"/>
          </a:blip>
          <a:stretch>
            <a:fillRect/>
          </a:stretch>
        </p:blipFill>
        <p:spPr>
          <a:xfrm>
            <a:off x="2385060" y="2391410"/>
            <a:ext cx="532765" cy="430530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13">
            <a:alphaModFix amt="28000"/>
          </a:blip>
          <a:stretch>
            <a:fillRect/>
          </a:stretch>
        </p:blipFill>
        <p:spPr>
          <a:xfrm>
            <a:off x="3200720" y="2583834"/>
            <a:ext cx="161925" cy="299720"/>
          </a:xfrm>
          <a:prstGeom prst="rect">
            <a:avLst/>
          </a:prstGeom>
        </p:spPr>
      </p:pic>
      <p:cxnSp>
        <p:nvCxnSpPr>
          <p:cNvPr id="149" name="直接连接符 148"/>
          <p:cNvCxnSpPr/>
          <p:nvPr/>
        </p:nvCxnSpPr>
        <p:spPr>
          <a:xfrm flipH="1">
            <a:off x="3102295" y="2547004"/>
            <a:ext cx="1270" cy="266700"/>
          </a:xfrm>
          <a:prstGeom prst="line">
            <a:avLst/>
          </a:prstGeom>
          <a:ln>
            <a:solidFill>
              <a:schemeClr val="tx1">
                <a:alpha val="2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8379517" y="1260326"/>
            <a:ext cx="898586" cy="182658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4539074" y="2003731"/>
            <a:ext cx="902305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Perception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Pathway 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469436" y="2003686"/>
            <a:ext cx="902305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Decision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Pathway 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49060" y="1729740"/>
            <a:ext cx="1349375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7620" algn="ctr">
              <a:spcBef>
                <a:spcPts val="70"/>
              </a:spcBef>
              <a:buClrTx/>
              <a:buSzTx/>
              <a:buFontTx/>
            </a:pP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7620" algn="ctr">
              <a:spcBef>
                <a:spcPts val="70"/>
              </a:spcBef>
              <a:buClrTx/>
              <a:buSzTx/>
              <a:buFontTx/>
            </a:pP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</a:t>
            </a:r>
            <a:r>
              <a:rPr lang="en-US" sz="12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sz="12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zh-CN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1">
            <a:alphaModFix amt="22000"/>
          </a:blip>
          <a:stretch>
            <a:fillRect/>
          </a:stretch>
        </p:blipFill>
        <p:spPr>
          <a:xfrm>
            <a:off x="3175216" y="1483796"/>
            <a:ext cx="121285" cy="14160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2">
            <a:alphaModFix amt="22000"/>
          </a:blip>
          <a:stretch>
            <a:fillRect/>
          </a:stretch>
        </p:blipFill>
        <p:spPr>
          <a:xfrm>
            <a:off x="2339556" y="1456350"/>
            <a:ext cx="653415" cy="52768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13">
            <a:alphaModFix amt="28000"/>
          </a:blip>
          <a:stretch>
            <a:fillRect/>
          </a:stretch>
        </p:blipFill>
        <p:spPr>
          <a:xfrm>
            <a:off x="3043476" y="1840042"/>
            <a:ext cx="161925" cy="299720"/>
          </a:xfrm>
          <a:prstGeom prst="rect">
            <a:avLst/>
          </a:prstGeom>
        </p:spPr>
      </p:pic>
      <p:cxnSp>
        <p:nvCxnSpPr>
          <p:cNvPr id="98" name="直接连接符 97"/>
          <p:cNvCxnSpPr/>
          <p:nvPr/>
        </p:nvCxnSpPr>
        <p:spPr>
          <a:xfrm flipH="1">
            <a:off x="3233636" y="1624766"/>
            <a:ext cx="1270" cy="266700"/>
          </a:xfrm>
          <a:prstGeom prst="line">
            <a:avLst/>
          </a:prstGeom>
          <a:ln>
            <a:solidFill>
              <a:schemeClr val="tx1">
                <a:alpha val="2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endCxn id="77" idx="0"/>
          </p:cNvCxnSpPr>
          <p:nvPr/>
        </p:nvCxnSpPr>
        <p:spPr>
          <a:xfrm rot="5400000">
            <a:off x="3811270" y="2449830"/>
            <a:ext cx="1085215" cy="638175"/>
          </a:xfrm>
          <a:prstGeom prst="bentConnector3">
            <a:avLst>
              <a:gd name="adj1" fmla="val 1989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连接符 60"/>
          <p:cNvCxnSpPr/>
          <p:nvPr/>
        </p:nvCxnSpPr>
        <p:spPr>
          <a:xfrm rot="5400000" flipV="1">
            <a:off x="5976620" y="2466975"/>
            <a:ext cx="1078865" cy="616585"/>
          </a:xfrm>
          <a:prstGeom prst="bentConnector3">
            <a:avLst>
              <a:gd name="adj1" fmla="val 1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40" idx="3"/>
          </p:cNvCxnSpPr>
          <p:nvPr/>
        </p:nvCxnSpPr>
        <p:spPr>
          <a:xfrm>
            <a:off x="3408045" y="2166620"/>
            <a:ext cx="1278255" cy="254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86" idx="3"/>
            <a:endCxn id="35" idx="1"/>
          </p:cNvCxnSpPr>
          <p:nvPr/>
        </p:nvCxnSpPr>
        <p:spPr>
          <a:xfrm>
            <a:off x="6371590" y="2162175"/>
            <a:ext cx="2007870" cy="1206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146810" y="1887855"/>
            <a:ext cx="849630" cy="659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Human </a:t>
            </a:r>
            <a:endParaRPr lang="en-US" sz="1400" b="1" spc="6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Driving</a:t>
            </a:r>
            <a:endParaRPr lang="en-US" sz="1400" b="1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18820" y="4071620"/>
            <a:ext cx="849630" cy="659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Brain-</a:t>
            </a:r>
            <a:r>
              <a:rPr lang="en-US" sz="1400" b="1" spc="6">
                <a:latin typeface="Times New Roman" panose="02020603050405020304" charset="0"/>
                <a:cs typeface="Times New Roman" panose="02020603050405020304" charset="0"/>
              </a:rPr>
              <a:t>Inspired</a:t>
            </a:r>
            <a:endParaRPr lang="en-US" sz="1400" b="1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239000" y="2484120"/>
            <a:ext cx="1169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Brake/Throttle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7439025" y="1698625"/>
            <a:ext cx="1056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Steering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脑原型"/>
          <p:cNvPicPr>
            <a:picLocks noChangeAspect="1"/>
          </p:cNvPicPr>
          <p:nvPr/>
        </p:nvPicPr>
        <p:blipFill rotWithShape="1">
          <a:blip r:embed="rId1"/>
          <a:srcRect r="10869"/>
          <a:stretch>
            <a:fillRect/>
          </a:stretch>
        </p:blipFill>
        <p:spPr>
          <a:xfrm>
            <a:off x="4497740" y="3777468"/>
            <a:ext cx="1896048" cy="12382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sp>
        <p:nvSpPr>
          <p:cNvPr id="28" name="文本框 27"/>
          <p:cNvSpPr txBox="1"/>
          <p:nvPr/>
        </p:nvSpPr>
        <p:spPr>
          <a:xfrm>
            <a:off x="2139000" y="2309983"/>
            <a:ext cx="1748790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sz="14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Environment Input</a:t>
            </a:r>
            <a:endParaRPr sz="14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492" y="1798490"/>
            <a:ext cx="977900" cy="387350"/>
          </a:xfrm>
          <a:prstGeom prst="rect">
            <a:avLst/>
          </a:prstGeom>
        </p:spPr>
      </p:pic>
      <p:sp>
        <p:nvSpPr>
          <p:cNvPr id="59" name="圆角矩形 58"/>
          <p:cNvSpPr/>
          <p:nvPr/>
        </p:nvSpPr>
        <p:spPr>
          <a:xfrm>
            <a:off x="4367565" y="3721588"/>
            <a:ext cx="2173419" cy="1322705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4865490" y="3242798"/>
            <a:ext cx="1142365" cy="337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lignment</a:t>
            </a:r>
            <a:endParaRPr sz="16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2" name="图片 31" descr="a1e43c4ced9b4d5ae9f5d936849b38e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7778726" y="2833226"/>
            <a:ext cx="494030" cy="494030"/>
          </a:xfrm>
          <a:prstGeom prst="rect">
            <a:avLst/>
          </a:prstGeom>
        </p:spPr>
      </p:pic>
      <p:pic>
        <p:nvPicPr>
          <p:cNvPr id="33" name="图片 32" descr="9966bd960df2ac42ce4b52b9505ae54"/>
          <p:cNvPicPr>
            <a:picLocks noChangeAspect="1"/>
          </p:cNvPicPr>
          <p:nvPr/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7782409" y="3639993"/>
            <a:ext cx="568325" cy="440055"/>
          </a:xfrm>
          <a:prstGeom prst="rect">
            <a:avLst/>
          </a:prstGeom>
        </p:spPr>
      </p:pic>
      <p:sp>
        <p:nvSpPr>
          <p:cNvPr id="40" name="圆角矩形 39"/>
          <p:cNvSpPr/>
          <p:nvPr/>
        </p:nvSpPr>
        <p:spPr>
          <a:xfrm>
            <a:off x="2199325" y="2668289"/>
            <a:ext cx="1327150" cy="850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5" name="图片 144"/>
          <p:cNvPicPr>
            <a:picLocks noChangeAspect="1"/>
          </p:cNvPicPr>
          <p:nvPr/>
        </p:nvPicPr>
        <p:blipFill>
          <a:blip r:embed="rId5">
            <a:alphaModFix amt="22000"/>
          </a:blip>
          <a:stretch>
            <a:fillRect/>
          </a:stretch>
        </p:blipFill>
        <p:spPr>
          <a:xfrm>
            <a:off x="3162620" y="2838469"/>
            <a:ext cx="121285" cy="14160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6">
            <a:alphaModFix amt="22000"/>
          </a:blip>
          <a:stretch>
            <a:fillRect/>
          </a:stretch>
        </p:blipFill>
        <p:spPr>
          <a:xfrm>
            <a:off x="2503805" y="2823845"/>
            <a:ext cx="532765" cy="430530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3319465" y="3016269"/>
            <a:ext cx="161925" cy="299720"/>
          </a:xfrm>
          <a:prstGeom prst="rect">
            <a:avLst/>
          </a:prstGeom>
        </p:spPr>
      </p:pic>
      <p:cxnSp>
        <p:nvCxnSpPr>
          <p:cNvPr id="149" name="直接连接符 148"/>
          <p:cNvCxnSpPr/>
          <p:nvPr/>
        </p:nvCxnSpPr>
        <p:spPr>
          <a:xfrm flipH="1">
            <a:off x="3221040" y="2979439"/>
            <a:ext cx="1270" cy="266700"/>
          </a:xfrm>
          <a:prstGeom prst="line">
            <a:avLst/>
          </a:prstGeom>
          <a:ln>
            <a:solidFill>
              <a:schemeClr val="tx1">
                <a:alpha val="2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09" name="Google Shape;3209;p50"/>
          <p:cNvSpPr/>
          <p:nvPr/>
        </p:nvSpPr>
        <p:spPr>
          <a:xfrm>
            <a:off x="4379595" y="2268220"/>
            <a:ext cx="885190" cy="598170"/>
          </a:xfrm>
          <a:prstGeom prst="cube">
            <a:avLst>
              <a:gd name="adj" fmla="val 29760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3209;p50"/>
          <p:cNvSpPr/>
          <p:nvPr/>
        </p:nvSpPr>
        <p:spPr>
          <a:xfrm>
            <a:off x="5688965" y="2243455"/>
            <a:ext cx="885190" cy="594995"/>
          </a:xfrm>
          <a:prstGeom prst="cube">
            <a:avLst>
              <a:gd name="adj" fmla="val 29760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圆角矩形 10"/>
          <p:cNvSpPr/>
          <p:nvPr/>
        </p:nvSpPr>
        <p:spPr>
          <a:xfrm>
            <a:off x="7595927" y="2556361"/>
            <a:ext cx="898586" cy="182658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 rot="10800000">
            <a:off x="6018552" y="3105017"/>
            <a:ext cx="76200" cy="54483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下箭头 65"/>
          <p:cNvSpPr/>
          <p:nvPr/>
        </p:nvSpPr>
        <p:spPr>
          <a:xfrm rot="10800000">
            <a:off x="4700927" y="3103710"/>
            <a:ext cx="76200" cy="54483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肘形连接符 14"/>
          <p:cNvCxnSpPr>
            <a:stCxn id="40" idx="3"/>
            <a:endCxn id="3209" idx="2"/>
          </p:cNvCxnSpPr>
          <p:nvPr/>
        </p:nvCxnSpPr>
        <p:spPr>
          <a:xfrm flipV="1">
            <a:off x="3526790" y="2656205"/>
            <a:ext cx="852805" cy="437515"/>
          </a:xfrm>
          <a:prstGeom prst="bentConnector3">
            <a:avLst>
              <a:gd name="adj1" fmla="val 5003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40" idx="3"/>
            <a:endCxn id="59" idx="1"/>
          </p:cNvCxnSpPr>
          <p:nvPr/>
        </p:nvCxnSpPr>
        <p:spPr>
          <a:xfrm>
            <a:off x="3526475" y="3093739"/>
            <a:ext cx="841090" cy="1289202"/>
          </a:xfrm>
          <a:prstGeom prst="bentConnector3">
            <a:avLst>
              <a:gd name="adj1" fmla="val 50755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221" idx="2"/>
          </p:cNvCxnSpPr>
          <p:nvPr/>
        </p:nvCxnSpPr>
        <p:spPr>
          <a:xfrm flipV="1">
            <a:off x="5265040" y="2629489"/>
            <a:ext cx="423943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endCxn id="11" idx="1"/>
          </p:cNvCxnSpPr>
          <p:nvPr/>
        </p:nvCxnSpPr>
        <p:spPr>
          <a:xfrm>
            <a:off x="6584950" y="2500630"/>
            <a:ext cx="1010920" cy="969010"/>
          </a:xfrm>
          <a:prstGeom prst="bentConnector3">
            <a:avLst>
              <a:gd name="adj1" fmla="val 50063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59" idx="3"/>
            <a:endCxn id="11" idx="1"/>
          </p:cNvCxnSpPr>
          <p:nvPr/>
        </p:nvCxnSpPr>
        <p:spPr>
          <a:xfrm flipV="1">
            <a:off x="6540984" y="3469651"/>
            <a:ext cx="1054943" cy="913290"/>
          </a:xfrm>
          <a:prstGeom prst="bentConnector3">
            <a:avLst>
              <a:gd name="adj1" fmla="val 51691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561299" y="4284651"/>
            <a:ext cx="902305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Perception 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532936" y="4156971"/>
            <a:ext cx="902305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Decision </a:t>
            </a:r>
            <a:endParaRPr lang="en-US" altLang="zh-CN" sz="120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566539" y="4441563"/>
            <a:ext cx="1889760" cy="271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sz="1200" spc="6">
                <a:latin typeface="Times New Roman" panose="02020603050405020304" charset="0"/>
                <a:cs typeface="Times New Roman" panose="02020603050405020304" charset="0"/>
              </a:rPr>
              <a:t>Action </a:t>
            </a:r>
            <a:r>
              <a:rPr lang="en-US" sz="1200" spc="6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1200" spc="6">
                <a:latin typeface="Times New Roman" panose="02020603050405020304" charset="0"/>
                <a:cs typeface="Times New Roman" panose="02020603050405020304" charset="0"/>
              </a:rPr>
              <a:t>election</a:t>
            </a:r>
            <a:endParaRPr sz="12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586908" y="2223620"/>
            <a:ext cx="1822450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Outpu</a:t>
            </a:r>
            <a:r>
              <a:rPr lang="en-US" sz="12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sz="12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2212556" y="3765986"/>
            <a:ext cx="1327150" cy="850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5">
            <a:alphaModFix amt="22000"/>
          </a:blip>
          <a:stretch>
            <a:fillRect/>
          </a:stretch>
        </p:blipFill>
        <p:spPr>
          <a:xfrm>
            <a:off x="3175851" y="3936166"/>
            <a:ext cx="121285" cy="14160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6">
            <a:alphaModFix amt="22000"/>
          </a:blip>
          <a:stretch>
            <a:fillRect/>
          </a:stretch>
        </p:blipFill>
        <p:spPr>
          <a:xfrm>
            <a:off x="2340191" y="3908720"/>
            <a:ext cx="653415" cy="52768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>
            <a:alphaModFix amt="28000"/>
          </a:blip>
          <a:stretch>
            <a:fillRect/>
          </a:stretch>
        </p:blipFill>
        <p:spPr>
          <a:xfrm>
            <a:off x="3044111" y="4292412"/>
            <a:ext cx="161925" cy="299720"/>
          </a:xfrm>
          <a:prstGeom prst="rect">
            <a:avLst/>
          </a:prstGeom>
        </p:spPr>
      </p:pic>
      <p:cxnSp>
        <p:nvCxnSpPr>
          <p:cNvPr id="98" name="直接连接符 97"/>
          <p:cNvCxnSpPr/>
          <p:nvPr/>
        </p:nvCxnSpPr>
        <p:spPr>
          <a:xfrm flipH="1">
            <a:off x="3234271" y="4077136"/>
            <a:ext cx="1270" cy="266700"/>
          </a:xfrm>
          <a:prstGeom prst="line">
            <a:avLst/>
          </a:prstGeom>
          <a:ln>
            <a:solidFill>
              <a:schemeClr val="tx1">
                <a:alpha val="2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2714060" y="3464046"/>
            <a:ext cx="366183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altLang="zh-CN" sz="1200" i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120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-1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755110" y="4581643"/>
            <a:ext cx="366183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altLang="zh-CN" sz="1200" i="1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lang="en-US" altLang="zh-CN" sz="1200" i="1" smtClean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4" name="肘形连接符 73"/>
          <p:cNvCxnSpPr>
            <a:stCxn id="94" idx="3"/>
            <a:endCxn id="3209" idx="2"/>
          </p:cNvCxnSpPr>
          <p:nvPr/>
        </p:nvCxnSpPr>
        <p:spPr>
          <a:xfrm flipV="1">
            <a:off x="3539490" y="2656205"/>
            <a:ext cx="840105" cy="1535430"/>
          </a:xfrm>
          <a:prstGeom prst="bentConnector3">
            <a:avLst>
              <a:gd name="adj1" fmla="val 50038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478732" y="2422343"/>
            <a:ext cx="24993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smtClean="0">
                <a:latin typeface="Times New Roman" panose="02020603050405020304" charset="0"/>
                <a:cs typeface="Times New Roman" panose="02020603050405020304" charset="0"/>
              </a:rPr>
              <a:t>Perception </a:t>
            </a:r>
            <a:endParaRPr lang="en-US" altLang="zh-CN" sz="12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smtClean="0">
                <a:latin typeface="Times New Roman" panose="02020603050405020304" charset="0"/>
                <a:cs typeface="Times New Roman" panose="02020603050405020304" charset="0"/>
              </a:rPr>
              <a:t>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10472" y="2395493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Decision </a:t>
            </a:r>
            <a:endParaRPr lang="en-US" altLang="zh-CN" sz="1200" smtClean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 smtClean="0">
                <a:latin typeface="Times New Roman" panose="02020603050405020304" charset="0"/>
                <a:cs typeface="Times New Roman" panose="02020603050405020304" charset="0"/>
              </a:rPr>
              <a:t>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肘形连接符 29"/>
          <p:cNvCxnSpPr>
            <a:stCxn id="130" idx="3"/>
            <a:endCxn id="59" idx="1"/>
          </p:cNvCxnSpPr>
          <p:nvPr/>
        </p:nvCxnSpPr>
        <p:spPr>
          <a:xfrm>
            <a:off x="2536715" y="2828106"/>
            <a:ext cx="262255" cy="399229"/>
          </a:xfrm>
          <a:prstGeom prst="bentConnector3">
            <a:avLst>
              <a:gd name="adj1" fmla="val 24819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3424555" y="2535489"/>
            <a:ext cx="1484865" cy="614515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圆角矩形 139"/>
          <p:cNvSpPr/>
          <p:nvPr/>
        </p:nvSpPr>
        <p:spPr>
          <a:xfrm>
            <a:off x="3364231" y="3297721"/>
            <a:ext cx="1604486" cy="663260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3012122" y="2138867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Perception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2664985" y="2472691"/>
            <a:ext cx="2416328" cy="1562734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644155" y="3713638"/>
            <a:ext cx="1082731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Ventral Pathway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811585" y="1995868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Decision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653611" y="2907143"/>
            <a:ext cx="1131596" cy="2355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Dorsal Pathway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110047" y="2347046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6276340" y="3121025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5413058" y="2255525"/>
            <a:ext cx="2712402" cy="1806570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471920" y="2432685"/>
            <a:ext cx="669925" cy="33464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534660" y="2912110"/>
            <a:ext cx="741680" cy="3962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468745" y="2937510"/>
            <a:ext cx="704850" cy="3454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468745" y="3467735"/>
            <a:ext cx="665480" cy="3422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374255" y="2952750"/>
            <a:ext cx="682625" cy="3295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638165" y="2963545"/>
            <a:ext cx="639445" cy="396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OFC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83680" y="247269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74790" y="297180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61455" y="349631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4265" y="297624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CPC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6822440" y="2757805"/>
            <a:ext cx="1905" cy="19494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6819900" y="3282950"/>
            <a:ext cx="2540" cy="17970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178675" y="3120390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3473051" y="3379470"/>
            <a:ext cx="391160" cy="332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3989941" y="3379470"/>
            <a:ext cx="391160" cy="334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4497941" y="3371850"/>
            <a:ext cx="391160" cy="3397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476226" y="3411220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V2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33107" y="3400632"/>
            <a:ext cx="53467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IT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617955" y="2599961"/>
            <a:ext cx="39116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3624122" y="2618667"/>
            <a:ext cx="70231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279625" y="2596786"/>
            <a:ext cx="47371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4279625" y="2593267"/>
            <a:ext cx="72072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MST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865481" y="354584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4381101" y="354457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020545" y="2752996"/>
            <a:ext cx="259080" cy="31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792966" y="3027252"/>
            <a:ext cx="391160" cy="332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3979781" y="3408045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V4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98970" y="3064140"/>
            <a:ext cx="374650" cy="3263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325335" y="2757757"/>
            <a:ext cx="6902" cy="83030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右箭头 21"/>
          <p:cNvSpPr/>
          <p:nvPr>
            <p:custDataLst>
              <p:tags r:id="rId1"/>
            </p:custDataLst>
          </p:nvPr>
        </p:nvSpPr>
        <p:spPr>
          <a:xfrm>
            <a:off x="9438640" y="3328670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>
            <p:custDataLst>
              <p:tags r:id="rId2"/>
            </p:custDataLst>
          </p:nvPr>
        </p:nvSpPr>
        <p:spPr>
          <a:xfrm>
            <a:off x="9429115" y="2815590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>
            <p:custDataLst>
              <p:tags r:id="rId3"/>
            </p:custDataLst>
          </p:nvPr>
        </p:nvSpPr>
        <p:spPr>
          <a:xfrm>
            <a:off x="8463280" y="3181985"/>
            <a:ext cx="975360" cy="3708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steering angle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>
            <p:custDataLst>
              <p:tags r:id="rId4"/>
            </p:custDataLst>
          </p:nvPr>
        </p:nvSpPr>
        <p:spPr>
          <a:xfrm>
            <a:off x="8463280" y="2642870"/>
            <a:ext cx="975360" cy="3708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acceleration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384323" y="3643322"/>
            <a:ext cx="1126173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Positional Embedding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497689" y="2235900"/>
            <a:ext cx="854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Speed Embedding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364480" y="3211165"/>
            <a:ext cx="11534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Navigation Embedding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9" name="肘形连接符 38"/>
          <p:cNvCxnSpPr>
            <a:endCxn id="10" idx="2"/>
          </p:cNvCxnSpPr>
          <p:nvPr/>
        </p:nvCxnSpPr>
        <p:spPr>
          <a:xfrm>
            <a:off x="4889101" y="3543935"/>
            <a:ext cx="1579644" cy="94933"/>
          </a:xfrm>
          <a:prstGeom prst="bentConnector3">
            <a:avLst>
              <a:gd name="adj1" fmla="val 23469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endCxn id="6" idx="2"/>
          </p:cNvCxnSpPr>
          <p:nvPr/>
        </p:nvCxnSpPr>
        <p:spPr>
          <a:xfrm flipV="1">
            <a:off x="4749165" y="2600008"/>
            <a:ext cx="1722755" cy="165239"/>
          </a:xfrm>
          <a:prstGeom prst="bentConnector3">
            <a:avLst>
              <a:gd name="adj1" fmla="val 29481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182351" y="3193304"/>
            <a:ext cx="14643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endCxn id="105" idx="1"/>
          </p:cNvCxnSpPr>
          <p:nvPr/>
        </p:nvCxnSpPr>
        <p:spPr>
          <a:xfrm>
            <a:off x="3319711" y="2762838"/>
            <a:ext cx="298244" cy="317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endCxn id="96" idx="1"/>
          </p:cNvCxnSpPr>
          <p:nvPr/>
        </p:nvCxnSpPr>
        <p:spPr>
          <a:xfrm>
            <a:off x="3332237" y="3583305"/>
            <a:ext cx="143989" cy="31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8056880" y="3119961"/>
            <a:ext cx="23241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8282305" y="2820035"/>
            <a:ext cx="8890" cy="55943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8289925" y="3373755"/>
            <a:ext cx="173355" cy="63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endCxn id="24" idx="1"/>
          </p:cNvCxnSpPr>
          <p:nvPr/>
        </p:nvCxnSpPr>
        <p:spPr>
          <a:xfrm>
            <a:off x="8282305" y="2825750"/>
            <a:ext cx="180975" cy="254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图片 1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8648" y="2568047"/>
            <a:ext cx="518067" cy="520118"/>
          </a:xfrm>
          <a:prstGeom prst="rect">
            <a:avLst/>
          </a:prstGeom>
        </p:spPr>
      </p:pic>
      <p:pic>
        <p:nvPicPr>
          <p:cNvPr id="141" name="图片 140" descr="a1e43c4ced9b4d5ae9f5d936849b38e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9645015" y="3130401"/>
            <a:ext cx="494030" cy="494030"/>
          </a:xfrm>
          <a:prstGeom prst="rect">
            <a:avLst/>
          </a:prstGeom>
        </p:spPr>
      </p:pic>
      <p:pic>
        <p:nvPicPr>
          <p:cNvPr id="142" name="图片 141" descr="9966bd960df2ac42ce4b52b9505ae54"/>
          <p:cNvPicPr>
            <a:picLocks noChangeAspect="1"/>
          </p:cNvPicPr>
          <p:nvPr/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9645015" y="2548731"/>
            <a:ext cx="568325" cy="4400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343858" y="2608726"/>
            <a:ext cx="75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Action Prediction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4487" y="3635454"/>
            <a:ext cx="360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V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74740" y="2834451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7830" y="3099039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8648" y="3297662"/>
            <a:ext cx="518067" cy="520118"/>
          </a:xfrm>
          <a:prstGeom prst="rect">
            <a:avLst/>
          </a:prstGeom>
        </p:spPr>
      </p:pic>
      <p:cxnSp>
        <p:nvCxnSpPr>
          <p:cNvPr id="28" name="肘形连接符 27"/>
          <p:cNvCxnSpPr>
            <a:stCxn id="13" idx="3"/>
            <a:endCxn id="59" idx="1"/>
          </p:cNvCxnSpPr>
          <p:nvPr/>
        </p:nvCxnSpPr>
        <p:spPr>
          <a:xfrm flipV="1">
            <a:off x="2536715" y="3227335"/>
            <a:ext cx="262255" cy="330386"/>
          </a:xfrm>
          <a:prstGeom prst="bentConnector3">
            <a:avLst>
              <a:gd name="adj1" fmla="val 2449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2038519" y="2282997"/>
            <a:ext cx="509736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i="1" smtClean="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1000" i="1" baseline="-25000" smtClean="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zh-CN" sz="1000" baseline="-25000" smtClean="0">
                <a:latin typeface="Times New Roman" panose="02020603050405020304" charset="0"/>
                <a:cs typeface="Times New Roman" panose="02020603050405020304" charset="0"/>
              </a:rPr>
              <a:t>-1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026979" y="3802072"/>
            <a:ext cx="509736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i="1" smtClean="0"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1000" i="1" baseline="-25000" smtClean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9364916" y="3140964"/>
                <a:ext cx="348615" cy="229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Pre>
                        <m:sPrePr>
                          <m:ctrlP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PrePr>
                        <m:sub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sup>
                        <m:e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sPre>
                    </m:oMath>
                  </m:oMathPara>
                </a14:m>
                <a:endParaRPr lang="zh-CN" altLang="en-US" sz="90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4916" y="3140964"/>
                <a:ext cx="348615" cy="229870"/>
              </a:xfrm>
              <a:prstGeom prst="rect">
                <a:avLst/>
              </a:prstGeom>
              <a:blipFill rotWithShape="1">
                <a:blip r:embed="rId8"/>
                <a:stretch>
                  <a:fillRect l="-164" t="-110" r="164" b="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9383331" y="2606294"/>
                <a:ext cx="354330" cy="229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sPre>
                        <m:sPrePr>
                          <m:ctrlP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PrePr>
                        <m:sub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sup>
                        <m:e>
                          <m:r>
                            <a:rPr lang="en-US" altLang="zh-CN" sz="9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sPre>
                    </m:oMath>
                  </m:oMathPara>
                </a14:m>
                <a:endParaRPr lang="zh-CN" altLang="en-US" sz="900"/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331" y="2606294"/>
                <a:ext cx="354330" cy="229870"/>
              </a:xfrm>
              <a:prstGeom prst="rect">
                <a:avLst/>
              </a:prstGeom>
              <a:blipFill rotWithShape="1">
                <a:blip r:embed="rId9"/>
                <a:stretch>
                  <a:fillRect l="-161" t="-110" r="161" b="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3079952" y="2973791"/>
            <a:ext cx="360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α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289" y="682427"/>
            <a:ext cx="2067123" cy="20671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340" y="682428"/>
            <a:ext cx="2067123" cy="2067123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4452603" y="2336714"/>
            <a:ext cx="1721791" cy="5541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r>
              <a:rPr lang="en-US" altLang="zh-CN" sz="900" dirty="0"/>
              <a:t>Steer -0.0212   Speed  -0.0010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/>
                </a:solidFill>
              </a:rPr>
              <a:t>Throttle  0.0</a:t>
            </a:r>
            <a:r>
              <a:rPr lang="en-US" altLang="zh-CN" sz="900" dirty="0">
                <a:solidFill>
                  <a:srgbClr val="C00000"/>
                </a:solidFill>
              </a:rPr>
              <a:t>      </a:t>
            </a:r>
            <a:r>
              <a:rPr lang="en-US" altLang="zh-CN" sz="900" dirty="0">
                <a:solidFill>
                  <a:srgbClr val="FF0000"/>
                </a:solidFill>
              </a:rPr>
              <a:t>Brake  0.8530</a:t>
            </a:r>
            <a:endParaRPr lang="en-US" altLang="zh-CN" sz="9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412" y="682427"/>
            <a:ext cx="2067123" cy="20671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340" y="2894518"/>
            <a:ext cx="2055070" cy="20550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35" y="2890879"/>
            <a:ext cx="2055070" cy="20550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305" y="2890879"/>
            <a:ext cx="2067123" cy="20671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68058" y="4522704"/>
            <a:ext cx="1721791" cy="5541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r>
              <a:rPr lang="en-US" altLang="zh-CN" sz="900" dirty="0"/>
              <a:t>Steer 0.02816   Speed  -0.0009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/>
                </a:solidFill>
              </a:rPr>
              <a:t>Throttle  0.0</a:t>
            </a:r>
            <a:r>
              <a:rPr lang="en-US" altLang="zh-CN" sz="900" dirty="0"/>
              <a:t>      </a:t>
            </a:r>
            <a:r>
              <a:rPr lang="en-US" altLang="zh-CN" sz="900" dirty="0">
                <a:solidFill>
                  <a:srgbClr val="FF0000"/>
                </a:solidFill>
              </a:rPr>
              <a:t>Brake  0.1196</a:t>
            </a:r>
            <a:endParaRPr lang="en-US" altLang="zh-CN" sz="900" dirty="0">
              <a:solidFill>
                <a:srgbClr val="FF0000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14" y="3473450"/>
            <a:ext cx="6201372" cy="2067124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14" y="1406326"/>
            <a:ext cx="2067124" cy="206712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438" y="1406326"/>
            <a:ext cx="2067124" cy="206712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974" y="1406326"/>
            <a:ext cx="2067124" cy="2067124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5024104" y="3022514"/>
            <a:ext cx="1721791" cy="5541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r>
              <a:rPr lang="en-US" altLang="zh-CN" sz="900" dirty="0"/>
              <a:t>Steer -0.0212   Speed  -0.0010</a:t>
            </a:r>
            <a:endParaRPr lang="en-US" altLang="zh-CN" sz="900" dirty="0"/>
          </a:p>
          <a:p>
            <a:r>
              <a:rPr lang="en-US" altLang="zh-CN" sz="900" dirty="0"/>
              <a:t>Throttle  0.0      </a:t>
            </a:r>
            <a:r>
              <a:rPr lang="en-US" altLang="zh-CN" sz="900" dirty="0">
                <a:solidFill>
                  <a:srgbClr val="FF0000"/>
                </a:solidFill>
              </a:rPr>
              <a:t>Brake  0.8530</a:t>
            </a:r>
            <a:endParaRPr lang="en-US" altLang="zh-CN" sz="900" dirty="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8" t="8056" r="8281"/>
          <a:stretch>
            <a:fillRect/>
          </a:stretch>
        </p:blipFill>
        <p:spPr>
          <a:xfrm>
            <a:off x="1162050" y="590550"/>
            <a:ext cx="9969500" cy="2101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19" y="2656350"/>
            <a:ext cx="2907031" cy="21802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321" y="2656350"/>
            <a:ext cx="3021329" cy="22659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025" y="2656350"/>
            <a:ext cx="3025564" cy="2269173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圆角矩形 68"/>
          <p:cNvSpPr/>
          <p:nvPr/>
        </p:nvSpPr>
        <p:spPr>
          <a:xfrm>
            <a:off x="4534098" y="3897630"/>
            <a:ext cx="883285" cy="672465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圆角矩形 139"/>
          <p:cNvSpPr/>
          <p:nvPr/>
        </p:nvSpPr>
        <p:spPr>
          <a:xfrm>
            <a:off x="2797263" y="3897630"/>
            <a:ext cx="745490" cy="672465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 w="635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3550285" y="3074670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2758440" y="2328545"/>
            <a:ext cx="2640965" cy="1466215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764915" y="2386330"/>
            <a:ext cx="669925" cy="33464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808605" y="2865755"/>
            <a:ext cx="741680" cy="3962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742690" y="2891155"/>
            <a:ext cx="704850" cy="3454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742690" y="3421380"/>
            <a:ext cx="665480" cy="3422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648200" y="2906395"/>
            <a:ext cx="682625" cy="3295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912110" y="2917190"/>
            <a:ext cx="639445" cy="396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VFC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57625" y="242633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48735" y="292544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35400" y="344995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OPC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28210" y="292989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DPC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>
            <a:stCxn id="9" idx="0"/>
          </p:cNvCxnSpPr>
          <p:nvPr/>
        </p:nvCxnSpPr>
        <p:spPr>
          <a:xfrm flipH="1" flipV="1">
            <a:off x="4093845" y="2720340"/>
            <a:ext cx="1270" cy="17081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4093845" y="3236595"/>
            <a:ext cx="2540" cy="17970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4452620" y="3074035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2849968" y="3996690"/>
            <a:ext cx="625475" cy="495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2853143" y="4028440"/>
            <a:ext cx="718820" cy="5892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Ventral 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</a:t>
            </a:r>
            <a:r>
              <a:rPr lang="en-US" altLang="zh-CN" sz="1200" baseline="-25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670623" y="3986530"/>
            <a:ext cx="628015" cy="451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4678243" y="3983990"/>
            <a:ext cx="614680" cy="4794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Dorsal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RNN</a:t>
            </a:r>
            <a:r>
              <a:rPr lang="en-US" altLang="zh-CN" sz="1200" baseline="-25000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2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35570" y="2465288"/>
            <a:ext cx="15722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(1) Initial step size in Ventral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Pathway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 smtClean="0">
                <a:latin typeface="Times New Roman" panose="02020603050405020304" charset="0"/>
                <a:cs typeface="Times New Roman" panose="02020603050405020304" charset="0"/>
              </a:rPr>
              <a:t>v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baseline (1)     0           0</a:t>
            </a:r>
            <a:endParaRPr lang="en-US" altLang="zh-CN" sz="1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             2     +2         -1</a:t>
            </a:r>
            <a:endParaRPr lang="en-US" altLang="zh-CN" sz="1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             4     -2          -1</a:t>
            </a:r>
            <a:endParaRPr lang="en-US" altLang="zh-CN" sz="1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             8     -2          -2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48165" y="2465288"/>
            <a:ext cx="17799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(2) Number of recurrent step in Dorsal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Pathway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RNN</a:t>
            </a:r>
            <a:r>
              <a:rPr lang="en-US" altLang="zh-CN" sz="1000" baseline="-25000" smtClean="0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000" baseline="-25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baseline (1)     0           0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 2     +2         -1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 4     -2          -1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 8     -2         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" name="直接箭头连接符 2"/>
          <p:cNvCxnSpPr>
            <a:stCxn id="140" idx="0"/>
          </p:cNvCxnSpPr>
          <p:nvPr/>
        </p:nvCxnSpPr>
        <p:spPr>
          <a:xfrm flipV="1">
            <a:off x="3170008" y="3261995"/>
            <a:ext cx="11937" cy="63563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9" idx="0"/>
          </p:cNvCxnSpPr>
          <p:nvPr/>
        </p:nvCxnSpPr>
        <p:spPr>
          <a:xfrm flipH="1" flipV="1">
            <a:off x="4973844" y="3235960"/>
            <a:ext cx="1897" cy="66167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622372" y="3690520"/>
            <a:ext cx="1572260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(3) Position feature dimension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VPC</a:t>
            </a:r>
            <a:endParaRPr lang="en-US" altLang="zh-CN" sz="1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baseline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(32)    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0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64      +1      +2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128    -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     -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256     -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    -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000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351987" y="3741815"/>
            <a:ext cx="15722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(4) Vector embedding dimension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PC</a:t>
            </a:r>
            <a:endParaRPr lang="en-US" altLang="zh-CN" sz="100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baseline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(32)    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0           0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64      +1         -3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128    +2         +1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     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256     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2        </a:t>
            </a:r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  -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 rot="18856733">
            <a:off x="6048817" y="2088730"/>
            <a:ext cx="930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ΔSR TL(%)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 rot="18863417">
            <a:off x="6539106" y="2088729"/>
            <a:ext cx="7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ΔTL(%)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 rot="18856733">
            <a:off x="7906954" y="2093957"/>
            <a:ext cx="930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ΔSR TL(%)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 rot="18863417">
            <a:off x="8397243" y="2093956"/>
            <a:ext cx="7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smtClean="0">
                <a:latin typeface="Times New Roman" panose="02020603050405020304" charset="0"/>
                <a:cs typeface="Times New Roman" panose="02020603050405020304" charset="0"/>
              </a:rPr>
              <a:t>ΔTL(%)</a:t>
            </a:r>
            <a:endParaRPr lang="en-US" altLang="zh-CN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接箭头连接符 65"/>
          <p:cNvCxnSpPr/>
          <p:nvPr/>
        </p:nvCxnSpPr>
        <p:spPr>
          <a:xfrm flipV="1">
            <a:off x="2728595" y="3267075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1865313" y="2401575"/>
            <a:ext cx="2712402" cy="1806570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924175" y="2578735"/>
            <a:ext cx="669925" cy="33464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986915" y="3058160"/>
            <a:ext cx="741680" cy="3962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921000" y="3083560"/>
            <a:ext cx="704850" cy="345440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921000" y="3613785"/>
            <a:ext cx="665480" cy="3422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826510" y="3098800"/>
            <a:ext cx="682625" cy="329565"/>
          </a:xfrm>
          <a:prstGeom prst="ellipse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2090420" y="3109595"/>
            <a:ext cx="639445" cy="396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OFC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35935" y="261874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27045" y="311785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13710" y="364236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06520" y="312229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CPC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3274695" y="2903855"/>
            <a:ext cx="1905" cy="19494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272155" y="3429000"/>
            <a:ext cx="2540" cy="17970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3630930" y="3266440"/>
            <a:ext cx="195580" cy="635"/>
          </a:xfrm>
          <a:prstGeom prst="straightConnector1">
            <a:avLst/>
          </a:prstGeom>
          <a:ln w="12700" cmpd="sng">
            <a:solidFill>
              <a:schemeClr val="tx1">
                <a:lumMod val="65000"/>
                <a:lumOff val="3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796113" y="2754776"/>
            <a:ext cx="75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charset="0"/>
                <a:cs typeface="Times New Roman" panose="02020603050405020304" charset="0"/>
              </a:rPr>
              <a:t>Action Prediction</a:t>
            </a:r>
            <a:endParaRPr lang="zh-CN" alt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6995" y="2980501"/>
            <a:ext cx="360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i="1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1000" i="1" baseline="-2500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altLang="zh-CN" sz="1000" i="1" baseline="-25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大脑原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2510" y="2585085"/>
            <a:ext cx="2127250" cy="123825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pic>
        <p:nvPicPr>
          <p:cNvPr id="68" name="图片 67" descr="bri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705" y="2631440"/>
            <a:ext cx="1318260" cy="112776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384675" y="795020"/>
            <a:ext cx="24993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Perception Network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73065" y="2210435"/>
            <a:ext cx="1665605" cy="375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sz="1200" spc="6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Neural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etric</a:t>
            </a:r>
            <a:endParaRPr sz="16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93965" y="2145665"/>
            <a:ext cx="1913890" cy="333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Behavioral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etric</a:t>
            </a:r>
            <a:endParaRPr sz="16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708525" y="4079240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Decision Network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35850" y="1743710"/>
            <a:ext cx="1889760" cy="271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Action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election</a:t>
            </a:r>
            <a:endParaRPr sz="16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896110" y="3127375"/>
            <a:ext cx="1898015" cy="3594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Brain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ctivation</a:t>
            </a:r>
            <a:endParaRPr sz="16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999105" y="1828800"/>
            <a:ext cx="1560195" cy="2578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sz="12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ctivation</a:t>
            </a:r>
            <a:endParaRPr sz="16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896110" y="4805680"/>
            <a:ext cx="977900" cy="3873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10" y="1360170"/>
            <a:ext cx="1089660" cy="4318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539875" y="808355"/>
            <a:ext cx="1748790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Environment Input</a:t>
            </a:r>
            <a:endParaRPr sz="16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5825" y="103505"/>
            <a:ext cx="977900" cy="387350"/>
          </a:xfrm>
          <a:prstGeom prst="rect">
            <a:avLst/>
          </a:prstGeom>
        </p:spPr>
      </p:pic>
      <p:cxnSp>
        <p:nvCxnSpPr>
          <p:cNvPr id="53" name="直接箭头连接符 52"/>
          <p:cNvCxnSpPr/>
          <p:nvPr/>
        </p:nvCxnSpPr>
        <p:spPr>
          <a:xfrm>
            <a:off x="7687945" y="4872355"/>
            <a:ext cx="1106170" cy="635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3564255" y="2648585"/>
            <a:ext cx="1897380" cy="1152525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箭头连接符 63"/>
          <p:cNvCxnSpPr/>
          <p:nvPr/>
        </p:nvCxnSpPr>
        <p:spPr>
          <a:xfrm>
            <a:off x="5473065" y="3092450"/>
            <a:ext cx="529590" cy="0"/>
          </a:xfrm>
          <a:prstGeom prst="straightConnector1">
            <a:avLst/>
          </a:prstGeom>
          <a:ln w="12700" cmpd="sng">
            <a:solidFill>
              <a:schemeClr val="accent6">
                <a:lumMod val="20000"/>
                <a:lumOff val="8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8049260" y="3000375"/>
            <a:ext cx="529590" cy="0"/>
          </a:xfrm>
          <a:prstGeom prst="straightConnector1">
            <a:avLst/>
          </a:prstGeom>
          <a:ln w="12700" cmpd="sng">
            <a:solidFill>
              <a:schemeClr val="accent6">
                <a:lumMod val="20000"/>
                <a:lumOff val="8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735570" y="838835"/>
            <a:ext cx="1822450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Perception Outpu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sz="16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8629650" y="2529205"/>
            <a:ext cx="1806575" cy="600710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/>
          <p:cNvCxnSpPr/>
          <p:nvPr/>
        </p:nvCxnSpPr>
        <p:spPr>
          <a:xfrm>
            <a:off x="7687945" y="1631950"/>
            <a:ext cx="1106170" cy="635"/>
          </a:xfrm>
          <a:prstGeom prst="straightConnector1">
            <a:avLst/>
          </a:prstGeom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2448560" y="3536315"/>
            <a:ext cx="5080" cy="892810"/>
          </a:xfrm>
          <a:prstGeom prst="line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2453640" y="3079750"/>
            <a:ext cx="788035" cy="4445"/>
          </a:xfrm>
          <a:prstGeom prst="straightConnector1">
            <a:avLst/>
          </a:prstGeom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3442335" y="2265680"/>
            <a:ext cx="1142365" cy="3378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600" spc="6">
                <a:latin typeface="Times New Roman" panose="02020603050405020304" charset="0"/>
                <a:cs typeface="Times New Roman" panose="02020603050405020304" charset="0"/>
              </a:rPr>
              <a:t>lignment</a:t>
            </a:r>
            <a:endParaRPr sz="1600" spc="6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629650" y="3206750"/>
            <a:ext cx="1805940" cy="600710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78f56e9c58dffd85a8f4fac3325fe4b_colormap_colormap"/>
          <p:cNvPicPr>
            <a:picLocks noChangeAspect="1"/>
          </p:cNvPicPr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>
            <a:off x="6560185" y="1389380"/>
            <a:ext cx="988060" cy="391795"/>
          </a:xfrm>
          <a:prstGeom prst="rect">
            <a:avLst/>
          </a:prstGeom>
        </p:spPr>
      </p:pic>
      <p:pic>
        <p:nvPicPr>
          <p:cNvPr id="25" name="图片 24" descr="a1e43c4ced9b4d5ae9f5d936849b38e_colormap_colormap"/>
          <p:cNvPicPr>
            <a:picLocks noChangeAspect="1"/>
          </p:cNvPicPr>
          <p:nvPr/>
        </p:nvPicPr>
        <p:blipFill>
          <a:blip r:embed="rId5">
            <a:alphaModFix amt="76000"/>
          </a:blip>
          <a:stretch>
            <a:fillRect/>
          </a:stretch>
        </p:blipFill>
        <p:spPr>
          <a:xfrm flipH="1">
            <a:off x="6672580" y="4429760"/>
            <a:ext cx="763270" cy="763270"/>
          </a:xfrm>
          <a:prstGeom prst="rect">
            <a:avLst/>
          </a:prstGeom>
        </p:spPr>
      </p:pic>
      <p:pic>
        <p:nvPicPr>
          <p:cNvPr id="26" name="图片 25" descr="a1e43c4ced9b4d5ae9f5d936849b38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8605" y="4445635"/>
            <a:ext cx="747395" cy="74739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alphaModFix amt="54000"/>
          </a:blip>
          <a:stretch>
            <a:fillRect/>
          </a:stretch>
        </p:blipFill>
        <p:spPr>
          <a:xfrm>
            <a:off x="8701405" y="2603500"/>
            <a:ext cx="977900" cy="387350"/>
          </a:xfrm>
          <a:prstGeom prst="rect">
            <a:avLst/>
          </a:prstGeom>
        </p:spPr>
      </p:pic>
      <p:pic>
        <p:nvPicPr>
          <p:cNvPr id="31" name="图片 30" descr="8c98cc4b269ca72151cd57589b995d2"/>
          <p:cNvPicPr>
            <a:picLocks noChangeAspect="1"/>
          </p:cNvPicPr>
          <p:nvPr/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9987915" y="2585085"/>
            <a:ext cx="224790" cy="415290"/>
          </a:xfrm>
          <a:prstGeom prst="rect">
            <a:avLst/>
          </a:prstGeom>
        </p:spPr>
      </p:pic>
      <p:pic>
        <p:nvPicPr>
          <p:cNvPr id="32" name="图片 31" descr="a1e43c4ced9b4d5ae9f5d936849b38e"/>
          <p:cNvPicPr>
            <a:picLocks noChangeAspect="1"/>
          </p:cNvPicPr>
          <p:nvPr/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8884920" y="3294380"/>
            <a:ext cx="494030" cy="494030"/>
          </a:xfrm>
          <a:prstGeom prst="rect">
            <a:avLst/>
          </a:prstGeom>
        </p:spPr>
      </p:pic>
      <p:pic>
        <p:nvPicPr>
          <p:cNvPr id="33" name="图片 32" descr="9966bd960df2ac42ce4b52b9505ae54"/>
          <p:cNvPicPr>
            <a:picLocks noChangeAspect="1"/>
          </p:cNvPicPr>
          <p:nvPr/>
        </p:nvPicPr>
        <p:blipFill>
          <a:blip r:embed="rId8">
            <a:alphaModFix amt="54000"/>
          </a:blip>
          <a:stretch>
            <a:fillRect/>
          </a:stretch>
        </p:blipFill>
        <p:spPr>
          <a:xfrm>
            <a:off x="9758045" y="3296920"/>
            <a:ext cx="568325" cy="440055"/>
          </a:xfrm>
          <a:prstGeom prst="rect">
            <a:avLst/>
          </a:prstGeom>
        </p:spPr>
      </p:pic>
      <p:cxnSp>
        <p:nvCxnSpPr>
          <p:cNvPr id="35" name="直接箭头连接符 34"/>
          <p:cNvCxnSpPr/>
          <p:nvPr/>
        </p:nvCxnSpPr>
        <p:spPr>
          <a:xfrm>
            <a:off x="5473065" y="3543935"/>
            <a:ext cx="529590" cy="0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049260" y="3486785"/>
            <a:ext cx="529590" cy="0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1731645" y="1162685"/>
            <a:ext cx="1327150" cy="8509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H="1">
            <a:off x="2448560" y="2086610"/>
            <a:ext cx="1270" cy="1005840"/>
          </a:xfrm>
          <a:prstGeom prst="line">
            <a:avLst/>
          </a:prstGeom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5" name="图片 144"/>
          <p:cNvPicPr>
            <a:picLocks noChangeAspect="1"/>
          </p:cNvPicPr>
          <p:nvPr/>
        </p:nvPicPr>
        <p:blipFill>
          <a:blip r:embed="rId9">
            <a:alphaModFix amt="22000"/>
          </a:blip>
          <a:stretch>
            <a:fillRect/>
          </a:stretch>
        </p:blipFill>
        <p:spPr>
          <a:xfrm>
            <a:off x="2694940" y="1332865"/>
            <a:ext cx="121285" cy="14160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10">
            <a:alphaModFix amt="22000"/>
          </a:blip>
          <a:stretch>
            <a:fillRect/>
          </a:stretch>
        </p:blipFill>
        <p:spPr>
          <a:xfrm>
            <a:off x="1915160" y="1264285"/>
            <a:ext cx="653415" cy="527685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11">
            <a:alphaModFix amt="28000"/>
          </a:blip>
          <a:stretch>
            <a:fillRect/>
          </a:stretch>
        </p:blipFill>
        <p:spPr>
          <a:xfrm>
            <a:off x="2851785" y="1510665"/>
            <a:ext cx="161925" cy="299720"/>
          </a:xfrm>
          <a:prstGeom prst="rect">
            <a:avLst/>
          </a:prstGeom>
        </p:spPr>
      </p:pic>
      <p:cxnSp>
        <p:nvCxnSpPr>
          <p:cNvPr id="149" name="直接连接符 148"/>
          <p:cNvCxnSpPr/>
          <p:nvPr/>
        </p:nvCxnSpPr>
        <p:spPr>
          <a:xfrm flipH="1">
            <a:off x="2753360" y="1473835"/>
            <a:ext cx="1270" cy="266700"/>
          </a:xfrm>
          <a:prstGeom prst="line">
            <a:avLst/>
          </a:prstGeom>
          <a:ln>
            <a:solidFill>
              <a:schemeClr val="tx1">
                <a:alpha val="2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7856855" y="3983990"/>
            <a:ext cx="1822450" cy="2736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7620" algn="l">
              <a:spcBef>
                <a:spcPts val="70"/>
              </a:spcBef>
              <a:buClrTx/>
              <a:buSzTx/>
              <a:buFontTx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Outpu</a:t>
            </a:r>
            <a:r>
              <a:rPr lang="en-US" sz="1600" spc="6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sz="1600" spc="6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sz="1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10" name="直接箭头连接符 209"/>
          <p:cNvCxnSpPr/>
          <p:nvPr/>
        </p:nvCxnSpPr>
        <p:spPr>
          <a:xfrm flipV="1">
            <a:off x="2453640" y="3539490"/>
            <a:ext cx="788035" cy="4445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直接箭头连接符 210"/>
          <p:cNvCxnSpPr/>
          <p:nvPr/>
        </p:nvCxnSpPr>
        <p:spPr>
          <a:xfrm flipV="1">
            <a:off x="3269615" y="1619885"/>
            <a:ext cx="788035" cy="4445"/>
          </a:xfrm>
          <a:prstGeom prst="straightConnector1">
            <a:avLst/>
          </a:prstGeom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2" name="圆角矩形 211"/>
          <p:cNvSpPr/>
          <p:nvPr/>
        </p:nvSpPr>
        <p:spPr>
          <a:xfrm>
            <a:off x="5977890" y="2620645"/>
            <a:ext cx="1897380" cy="1152525"/>
          </a:xfrm>
          <a:prstGeom prst="roundRect">
            <a:avLst/>
          </a:prstGeom>
          <a:solidFill>
            <a:schemeClr val="bg1">
              <a:lumMod val="95000"/>
              <a:alpha val="49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3" name="直接箭头连接符 212"/>
          <p:cNvCxnSpPr/>
          <p:nvPr/>
        </p:nvCxnSpPr>
        <p:spPr>
          <a:xfrm>
            <a:off x="5180965" y="4872990"/>
            <a:ext cx="1296670" cy="7620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/>
          <p:nvPr/>
        </p:nvCxnSpPr>
        <p:spPr>
          <a:xfrm flipV="1">
            <a:off x="3269615" y="4876165"/>
            <a:ext cx="788035" cy="4445"/>
          </a:xfrm>
          <a:prstGeom prst="straightConnector1">
            <a:avLst/>
          </a:prstGeom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/>
          <p:nvPr/>
        </p:nvCxnSpPr>
        <p:spPr>
          <a:xfrm>
            <a:off x="5180965" y="1624330"/>
            <a:ext cx="1296670" cy="7620"/>
          </a:xfrm>
          <a:prstGeom prst="straightConnector1">
            <a:avLst/>
          </a:prstGeom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09" name="Google Shape;3209;p50"/>
          <p:cNvSpPr/>
          <p:nvPr/>
        </p:nvSpPr>
        <p:spPr>
          <a:xfrm>
            <a:off x="4185920" y="1163320"/>
            <a:ext cx="885190" cy="748665"/>
          </a:xfrm>
          <a:prstGeom prst="cube">
            <a:avLst>
              <a:gd name="adj" fmla="val 29760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>
            <a:solidFill>
              <a:schemeClr val="accent6">
                <a:lumMod val="20000"/>
                <a:lumOff val="80000"/>
                <a:alpha val="37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3209;p50"/>
          <p:cNvSpPr/>
          <p:nvPr/>
        </p:nvSpPr>
        <p:spPr>
          <a:xfrm>
            <a:off x="4185920" y="4493260"/>
            <a:ext cx="885190" cy="748665"/>
          </a:xfrm>
          <a:prstGeom prst="cube">
            <a:avLst>
              <a:gd name="adj" fmla="val 2976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lumMod val="95000"/>
                <a:alpha val="37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" name="直接连接符 1"/>
          <p:cNvCxnSpPr/>
          <p:nvPr/>
        </p:nvCxnSpPr>
        <p:spPr>
          <a:xfrm>
            <a:off x="10125075" y="1607820"/>
            <a:ext cx="37782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500995" y="1603375"/>
            <a:ext cx="14605" cy="3747135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3251200" y="5343525"/>
            <a:ext cx="7259320" cy="12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1731645" y="4573905"/>
            <a:ext cx="1327150" cy="850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3175">
            <a:solidFill>
              <a:schemeClr val="bg1">
                <a:lumMod val="95000"/>
                <a:alpha val="3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下箭头 13"/>
          <p:cNvSpPr/>
          <p:nvPr/>
        </p:nvSpPr>
        <p:spPr>
          <a:xfrm>
            <a:off x="9507855" y="3864610"/>
            <a:ext cx="76200" cy="532765"/>
          </a:xfrm>
          <a:prstGeom prst="upDownArrow">
            <a:avLst>
              <a:gd name="adj1" fmla="val 31092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下箭头 33"/>
          <p:cNvSpPr/>
          <p:nvPr/>
        </p:nvSpPr>
        <p:spPr>
          <a:xfrm>
            <a:off x="4559300" y="3851910"/>
            <a:ext cx="76200" cy="54483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上下箭头 36"/>
          <p:cNvSpPr/>
          <p:nvPr/>
        </p:nvSpPr>
        <p:spPr>
          <a:xfrm>
            <a:off x="6983730" y="3864610"/>
            <a:ext cx="76200" cy="532765"/>
          </a:xfrm>
          <a:prstGeom prst="upDownArrow">
            <a:avLst>
              <a:gd name="adj1" fmla="val 31092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上下箭头 37"/>
          <p:cNvSpPr/>
          <p:nvPr/>
        </p:nvSpPr>
        <p:spPr>
          <a:xfrm>
            <a:off x="9507855" y="1873885"/>
            <a:ext cx="76200" cy="532765"/>
          </a:xfrm>
          <a:prstGeom prst="upDownArrow">
            <a:avLst>
              <a:gd name="adj1" fmla="val 31092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上下箭头 40"/>
          <p:cNvSpPr/>
          <p:nvPr/>
        </p:nvSpPr>
        <p:spPr>
          <a:xfrm>
            <a:off x="6983730" y="1873885"/>
            <a:ext cx="76200" cy="532765"/>
          </a:xfrm>
          <a:prstGeom prst="upDownArrow">
            <a:avLst>
              <a:gd name="adj1" fmla="val 31092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 rot="10800000">
            <a:off x="4559300" y="2015490"/>
            <a:ext cx="76200" cy="54483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5226050" y="2874010"/>
            <a:ext cx="76200" cy="5149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/>
        </p:nvSpPr>
        <p:spPr>
          <a:xfrm>
            <a:off x="5351145" y="3094990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5043170" y="3624580"/>
            <a:ext cx="535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j</a:t>
            </a:r>
            <a:endParaRPr lang="en-US" altLang="zh-CN" sz="12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右箭头 54"/>
          <p:cNvSpPr/>
          <p:nvPr>
            <p:custDataLst>
              <p:tags r:id="rId2"/>
            </p:custDataLst>
          </p:nvPr>
        </p:nvSpPr>
        <p:spPr>
          <a:xfrm>
            <a:off x="8487410" y="3279775"/>
            <a:ext cx="135890" cy="107950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>
            <p:custDataLst>
              <p:tags r:id="rId3"/>
            </p:custDataLst>
          </p:nvPr>
        </p:nvSpPr>
        <p:spPr>
          <a:xfrm>
            <a:off x="8477885" y="2766695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"/>
            </p:custDataLst>
          </p:nvPr>
        </p:nvSpPr>
        <p:spPr>
          <a:xfrm>
            <a:off x="9639935" y="3234690"/>
            <a:ext cx="417830" cy="2851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51940" y="2690495"/>
            <a:ext cx="396240" cy="226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US" altLang="zh-CN" sz="12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27810" y="3157220"/>
            <a:ext cx="499110" cy="226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m</a:t>
            </a:r>
            <a:endParaRPr lang="en-US" altLang="zh-CN" sz="9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右箭头 107"/>
          <p:cNvSpPr/>
          <p:nvPr/>
        </p:nvSpPr>
        <p:spPr>
          <a:xfrm>
            <a:off x="1885315" y="2782570"/>
            <a:ext cx="127000" cy="9588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右箭头 118"/>
          <p:cNvSpPr/>
          <p:nvPr/>
        </p:nvSpPr>
        <p:spPr>
          <a:xfrm>
            <a:off x="1889760" y="3233420"/>
            <a:ext cx="127000" cy="9588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圆角矩形 145"/>
          <p:cNvSpPr/>
          <p:nvPr>
            <p:custDataLst>
              <p:tags r:id="rId5"/>
            </p:custDataLst>
          </p:nvPr>
        </p:nvSpPr>
        <p:spPr>
          <a:xfrm>
            <a:off x="13352780" y="1146810"/>
            <a:ext cx="287655" cy="3708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alpha val="1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lang="zh-CN" alt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ecision</a:t>
            </a:r>
            <a:r>
              <a:rPr lang="zh-CN" altLang="en-US" sz="8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lang="zh-CN" altLang="en-US" sz="9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etwork</a:t>
            </a:r>
            <a:endParaRPr lang="zh-CN" altLang="en-US" sz="900">
              <a:solidFill>
                <a:schemeClr val="tx1">
                  <a:alpha val="16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9710420" y="2684145"/>
            <a:ext cx="417830" cy="279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112010" y="1986915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Perception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2112010" y="2344420"/>
            <a:ext cx="2348865" cy="1628140"/>
          </a:xfrm>
          <a:prstGeom prst="roundRect">
            <a:avLst/>
          </a:prstGeom>
          <a:noFill/>
          <a:ln w="12700" cmpd="sng">
            <a:solidFill>
              <a:schemeClr val="accent6">
                <a:lumMod val="20000"/>
                <a:lumOff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2206625" y="2376805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Ventral Pathway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534660" y="1974215"/>
            <a:ext cx="1851660" cy="317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Decision Network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2206625" y="3624580"/>
            <a:ext cx="1851660" cy="2355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Dorsal Pathway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8334375" y="2564765"/>
            <a:ext cx="76200" cy="9791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文本框 202"/>
          <p:cNvSpPr txBox="1"/>
          <p:nvPr/>
        </p:nvSpPr>
        <p:spPr>
          <a:xfrm>
            <a:off x="7988300" y="1974215"/>
            <a:ext cx="10528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Assessment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V="1">
            <a:off x="6276340" y="3121025"/>
            <a:ext cx="195580" cy="635"/>
          </a:xfrm>
          <a:prstGeom prst="straightConnector1">
            <a:avLst/>
          </a:prstGeom>
          <a:ln w="12700" cmpd="sng">
            <a:solidFill>
              <a:schemeClr val="bg1">
                <a:lumMod val="8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5518150" y="2432685"/>
            <a:ext cx="2557780" cy="1377315"/>
          </a:xfrm>
          <a:prstGeom prst="round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471920" y="2432685"/>
            <a:ext cx="669925" cy="33464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534660" y="2912110"/>
            <a:ext cx="741680" cy="396240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468745" y="2937510"/>
            <a:ext cx="704850" cy="345440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468745" y="3467735"/>
            <a:ext cx="665480" cy="34226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374255" y="2952750"/>
            <a:ext cx="682625" cy="329565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638165" y="2963545"/>
            <a:ext cx="639445" cy="396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83680" y="247269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74790" y="297180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61455" y="3496310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VPC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54265" y="2976245"/>
            <a:ext cx="671195" cy="425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OFC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6822440" y="2757805"/>
            <a:ext cx="1905" cy="194945"/>
          </a:xfrm>
          <a:prstGeom prst="straightConnector1">
            <a:avLst/>
          </a:prstGeom>
          <a:ln w="12700" cmpd="sng">
            <a:solidFill>
              <a:schemeClr val="bg1">
                <a:lumMod val="8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6819900" y="3282950"/>
            <a:ext cx="2540" cy="179705"/>
          </a:xfrm>
          <a:prstGeom prst="straightConnector1">
            <a:avLst/>
          </a:prstGeom>
          <a:ln w="12700" cmpd="sng">
            <a:solidFill>
              <a:schemeClr val="bg1">
                <a:lumMod val="8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178675" y="3120390"/>
            <a:ext cx="195580" cy="635"/>
          </a:xfrm>
          <a:prstGeom prst="straightConnector1">
            <a:avLst/>
          </a:prstGeom>
          <a:ln w="12700" cmpd="sng">
            <a:solidFill>
              <a:schemeClr val="bg1">
                <a:lumMod val="85000"/>
              </a:schemeClr>
            </a:solidFill>
            <a:prstDash val="soli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2257425" y="2405380"/>
            <a:ext cx="2058035" cy="688975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2257425" y="3189605"/>
            <a:ext cx="2070735" cy="711200"/>
          </a:xfrm>
          <a:prstGeom prst="roundRect">
            <a:avLst/>
          </a:prstGeom>
          <a:solidFill>
            <a:schemeClr val="bg1">
              <a:lumMod val="95000"/>
              <a:alpha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821940" y="2656840"/>
            <a:ext cx="391160" cy="332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3338830" y="2656840"/>
            <a:ext cx="391160" cy="334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3846830" y="2649220"/>
            <a:ext cx="391160" cy="3397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2825115" y="2688590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V2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838575" y="2682875"/>
            <a:ext cx="53467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IT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009900" y="3292475"/>
            <a:ext cx="39116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/>
          <p:cNvSpPr txBox="1"/>
          <p:nvPr/>
        </p:nvSpPr>
        <p:spPr>
          <a:xfrm>
            <a:off x="2969260" y="3305810"/>
            <a:ext cx="702310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3671570" y="3289300"/>
            <a:ext cx="473710" cy="332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3626485" y="3305810"/>
            <a:ext cx="72072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MST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3214370" y="282321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729990" y="2821940"/>
            <a:ext cx="124460" cy="127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3412490" y="3445510"/>
            <a:ext cx="259080" cy="31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2496185" y="2821940"/>
            <a:ext cx="317500" cy="19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335530" y="3292475"/>
            <a:ext cx="391160" cy="3321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2750820" y="3440430"/>
            <a:ext cx="259080" cy="31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313430" y="2685415"/>
            <a:ext cx="513715" cy="3505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V4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38070" y="3311525"/>
            <a:ext cx="374650" cy="3263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V1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右箭头 62"/>
          <p:cNvSpPr/>
          <p:nvPr>
            <p:custDataLst>
              <p:tags r:id="rId7"/>
            </p:custDataLst>
          </p:nvPr>
        </p:nvSpPr>
        <p:spPr>
          <a:xfrm>
            <a:off x="8129905" y="3019425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/>
          <p:cNvSpPr/>
          <p:nvPr/>
        </p:nvSpPr>
        <p:spPr>
          <a:xfrm>
            <a:off x="4829175" y="2656840"/>
            <a:ext cx="76200" cy="97536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右箭头 189"/>
          <p:cNvSpPr/>
          <p:nvPr/>
        </p:nvSpPr>
        <p:spPr>
          <a:xfrm>
            <a:off x="4315460" y="3375025"/>
            <a:ext cx="466725" cy="7556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右箭头 191"/>
          <p:cNvSpPr/>
          <p:nvPr/>
        </p:nvSpPr>
        <p:spPr>
          <a:xfrm>
            <a:off x="4315460" y="2795905"/>
            <a:ext cx="466725" cy="7556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右箭头 196"/>
          <p:cNvSpPr/>
          <p:nvPr/>
        </p:nvSpPr>
        <p:spPr>
          <a:xfrm>
            <a:off x="4940935" y="3088005"/>
            <a:ext cx="264160" cy="82550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501900" y="2821305"/>
            <a:ext cx="0" cy="4679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右箭头 21"/>
          <p:cNvSpPr/>
          <p:nvPr>
            <p:custDataLst>
              <p:tags r:id="rId8"/>
            </p:custDataLst>
          </p:nvPr>
        </p:nvSpPr>
        <p:spPr>
          <a:xfrm>
            <a:off x="9513570" y="3328670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>
            <p:custDataLst>
              <p:tags r:id="rId9"/>
            </p:custDataLst>
          </p:nvPr>
        </p:nvSpPr>
        <p:spPr>
          <a:xfrm>
            <a:off x="9504045" y="2815590"/>
            <a:ext cx="135890" cy="75565"/>
          </a:xfrm>
          <a:prstGeom prst="rightArrow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>
            <p:custDataLst>
              <p:tags r:id="rId10"/>
            </p:custDataLst>
          </p:nvPr>
        </p:nvSpPr>
        <p:spPr>
          <a:xfrm>
            <a:off x="8667115" y="2628265"/>
            <a:ext cx="791845" cy="3708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Action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Head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>
            <p:custDataLst>
              <p:tags r:id="rId11"/>
            </p:custDataLst>
          </p:nvPr>
        </p:nvSpPr>
        <p:spPr>
          <a:xfrm>
            <a:off x="8667115" y="3189605"/>
            <a:ext cx="792480" cy="3708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Speed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Head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2249170" y="3663315"/>
            <a:ext cx="2073275" cy="3175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254885" y="2625090"/>
            <a:ext cx="2073275" cy="3175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PECIAL_SOURCE" val="bdnull"/>
</p:tagLst>
</file>

<file path=ppt/tags/tag74.xml><?xml version="1.0" encoding="utf-8"?>
<p:tagLst xmlns:p="http://schemas.openxmlformats.org/presentationml/2006/main">
  <p:tag name="KSO_WM_SPECIAL_SOURCE" val="bdnull"/>
</p:tagLst>
</file>

<file path=ppt/tags/tag75.xml><?xml version="1.0" encoding="utf-8"?>
<p:tagLst xmlns:p="http://schemas.openxmlformats.org/presentationml/2006/main">
  <p:tag name="KSO_WM_SPECIAL_SOURCE" val="bdnull"/>
</p:tagLst>
</file>

<file path=ppt/tags/tag76.xml><?xml version="1.0" encoding="utf-8"?>
<p:tagLst xmlns:p="http://schemas.openxmlformats.org/presentationml/2006/main">
  <p:tag name="KSO_WM_SPECIAL_SOURCE" val="bdnull"/>
</p:tagLst>
</file>

<file path=ppt/tags/tag77.xml><?xml version="1.0" encoding="utf-8"?>
<p:tagLst xmlns:p="http://schemas.openxmlformats.org/presentationml/2006/main">
  <p:tag name="KSO_WM_SPECIAL_SOURCE" val="bdnull"/>
</p:tagLst>
</file>

<file path=ppt/tags/tag78.xml><?xml version="1.0" encoding="utf-8"?>
<p:tagLst xmlns:p="http://schemas.openxmlformats.org/presentationml/2006/main"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SPECIAL_SOURCE" val="bdnull"/>
</p:tagLst>
</file>

<file path=ppt/tags/tag92.xml><?xml version="1.0" encoding="utf-8"?>
<p:tagLst xmlns:p="http://schemas.openxmlformats.org/presentationml/2006/main">
  <p:tag name="COMMONDATA" val="eyJoZGlkIjoiM2IzMmE0ZjYzMTJhMTJkZGUyZWQxNGQ0YzBhN2IzOWYifQ=="/>
  <p:tag name="KSO_DOCER_TEMPLATE_OPEN_ONCE_MARK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>
              <a:lumMod val="65000"/>
              <a:lumOff val="35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rtlCol="0">
        <a:noAutofit/>
      </a:bodyPr>
      <a:lstStyle>
        <a:defPPr>
          <a:defRPr lang="zh-CN" altLang="en-US" sz="9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2023</Words>
  <Application>WPS 演示</Application>
  <PresentationFormat>宽屏</PresentationFormat>
  <Paragraphs>319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lh.</cp:lastModifiedBy>
  <cp:revision>552</cp:revision>
  <dcterms:created xsi:type="dcterms:W3CDTF">2019-06-19T02:08:00Z</dcterms:created>
  <dcterms:modified xsi:type="dcterms:W3CDTF">2025-04-29T14:42:42Z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DFC93CC043034BEBB673E15CA407FB59_11</vt:lpwstr>
  </property>
</Properties>
</file>